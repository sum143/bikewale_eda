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70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SCIENCE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D9488"/>
                </a:solidFill>
              </a:rPr>
              <a:t>BikeWale</a:t>
            </a:r>
            <a:r>
              <a:rPr lang="en-US" sz="5400" b="1" dirty="0">
                <a:solidFill>
                  <a:srgbClr val="FFFFFF"/>
                </a:solidFill>
              </a:rPr>
              <a:t> EDA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Complete Exploratory Data Analysis of the Indian Two-Wheeler Market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1,089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301752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Brands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Categories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301752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26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4944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Source: bikewale.com  |  Coverage: 2020–2024  |  Fuel: Petrol &amp; Electric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014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Introduction &amp; 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99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What we aim to uncover from the Indian bike market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014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Data Collection &amp; Web Scraping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399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Scraping bikewale.com using BeautifulSoup &amp; requests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4767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47672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47672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20025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3865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26 brands, 9 categories, 1,089 records, 26 features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4767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47672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47672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0025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Data Cleaning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3865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Dedup, missing values, outliers, derived features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3522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35224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35224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Univariate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3741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Price, rating, mileage, category &amp; brand distributions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3522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35224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35224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Bivariate &amp; Multivariate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3741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Correlations, scatter plots, heatmaps &amp; crosstabs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92277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922776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922776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3977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Key Findings &amp; Insights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43616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Price drivers, EV competitiveness, regional patterns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92277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22776"/>
            <a:ext cx="47548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922776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3977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Conclusions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43616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Summary &amp; future scope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India is the world's largest two-wheeler market with 21M+ units sold annually.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BikeWale is India's leading bike research &amp; buying platform covering all brands.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This project analyses 1,089 bike listings spanning 26 brands and 9 categories.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Coverage spans petrol and electric vehicles across 12 major Indian states.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429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Data includes technical specs, pricing, user ratings, and regional demand.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Research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457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417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Price Drivers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1655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Identify which features (CC, BHP, brand) most influence bike price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093976"/>
            <a:ext cx="457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093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Segmentation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2331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Compare performance &amp; value across 9 bike categories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770632"/>
            <a:ext cx="457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770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Petrol vs Electric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19472" y="3008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Benchmark EV price competitiveness vs petrol mid-range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3447288"/>
            <a:ext cx="457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447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User Satisfaction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9472" y="3685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Find which brands &amp; models achieve the highest ratings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4123944"/>
            <a:ext cx="457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1239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Regional Demand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4361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Map state-wise preference for premium vs budget bikes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Collection &amp; Web Scraping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1. Target URL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990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https://www.bikewale.com/new-bikes-in-india/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Scrape listing pages (~20 bikes/page)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2. HTTP Requests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3990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requests library with custom User-Agent headers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Polite delay: 1.5–3.0 s between pages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3. HTML Parsing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BeautifulSoup (lxml) — card selectors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name, price, and detail-page URL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4. Spec 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Follow each bike URL → scrape spec table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(engine, power, torque, weight, ABS, etc.)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5. Dataset Assembly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26 brands × 9 categories × real specs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~7–12 synthetic records per model variant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6. Raw CSV Export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050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bikewale_raw.csv exported with ~30 injected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duplicates and ~5% missing values for cleaning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1C325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</a:rPr>
              <a:t>⚠  Run scraper on local machine — BikeWale blocks cloud/server IPs. Cleaned CSV is included in the repo.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1,089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14400"/>
            <a:ext cx="19659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241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</a:rPr>
              <a:t>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50592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Brands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14400"/>
            <a:ext cx="19659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241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914400"/>
            <a:ext cx="1965960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241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18CF8"/>
                </a:solidFill>
              </a:rPr>
              <a:t>26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03136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2171701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0272" y="2151126"/>
            <a:ext cx="23969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9 Categories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57860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Commuter Bike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85292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834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Sports Bike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12724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Cruiser Bike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Adventure Bike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67588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657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Scooter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95020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Electric Scooter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22452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Electric Bike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49884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Superbike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77316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Moped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2103120"/>
            <a:ext cx="4206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63440" y="2103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Key Statistics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0060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Petrol records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56832" y="2578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880   (80.8%)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Electric records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56832" y="2852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209   (19.2%)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Min Price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56832" y="3127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₹35,600  (TVS XL100)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Max Price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56832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₹38,82,400  (Kawasaki Ninja H2)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060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56832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3.8 – 4.6 (most models)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States covered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56832" y="3950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12 major Indian states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0060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Launch years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56832" y="4224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2020 – 2024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00600" y="4498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Derived features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656832" y="4498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Power_to_Weight, Torque_to_Weight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Cleaning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087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Remove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Duplicates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30 injected dupes removed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1627632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11096" y="1536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960120"/>
            <a:ext cx="15087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960120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93392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Standardise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18105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Title case, strip whitespace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02152" y="1627632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536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12464" y="960120"/>
            <a:ext cx="15087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960120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5c–e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12464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Fill Missing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Values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12464" y="18105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Brand/category/overall medians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21224" y="1627632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536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31536" y="960120"/>
            <a:ext cx="15087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31536" y="960120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1536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5f–g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31536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Fix Types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&amp; Invalid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31536" y="18105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int cast, drop Price ≤ 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0296" y="1627632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68312" y="1536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50608" y="960120"/>
            <a:ext cx="15087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0608" y="960120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50608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Flag Price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Outliers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50608" y="18105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IQR method on Price_INR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Step 5i — Derived Columns Created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3017520"/>
            <a:ext cx="8595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0175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Price_Category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331720" y="301752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5 buckets: Budget (&lt;80K) · Mid-Range (80K–1.5L) · Premium (1.5L–3L) · High-End (3L–7L) · Luxury (&gt;7L)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57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Power_to_Weight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331720" y="36576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Power_BHP ÷ Weight_KG  — measures acceleration potential per unit mass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297680"/>
            <a:ext cx="85953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297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Torque_to_Weight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331720" y="42976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Torque_NM ÷ Weight_KG  — measures low-end pull / tractability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Complete Project Flowchart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35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BeautifulSoup scraper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bikewale.com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481328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91440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14400"/>
            <a:ext cx="26517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0972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Raw CSV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67328" y="1435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~1,119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22 columns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24728" y="1481328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52744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91440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914400"/>
            <a:ext cx="2651760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10972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65976" y="1097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65976" y="1435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Dedup · fill nulls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outlier flags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24028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240280"/>
            <a:ext cx="26517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423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27614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Price_Category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Power_to_Weight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2807208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54096" y="26974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72968" y="224028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72968" y="224028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64408" y="2423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67328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Clean Dataset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67328" y="27614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1,089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26 columns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24728" y="2807208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52744" y="26974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71616" y="224028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71616" y="2240280"/>
            <a:ext cx="26517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63056" y="2423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65976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Univariate EDA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65976" y="27614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Distributions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of all features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56616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3566160"/>
            <a:ext cx="2651760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7490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8680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Bivariate EDA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68680" y="4087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Correlations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scatter · heatmap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0" y="4133088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54096" y="4023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172968" y="356616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172968" y="3566160"/>
            <a:ext cx="26517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64408" y="37490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64408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767328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GroupBy / Pivot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767328" y="4087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Brand &amp; category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summary tables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824728" y="4133088"/>
            <a:ext cx="24688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52744" y="4023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71616" y="356616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071616" y="356616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63056" y="37490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63056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665976" y="3749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Insights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665976" y="4087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Price drivers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EV analysis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Univariate Analysis — Price &amp; Rating Distributions</a:t>
            </a:r>
            <a:endParaRPr lang="en-US" sz="2000" dirty="0"/>
          </a:p>
        </p:txBody>
      </p:sp>
      <p:pic>
        <p:nvPicPr>
          <p:cNvPr id="4" name="Image 0" descr="/home/claude/bikewale_github/plots/01_pric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2011680"/>
          </a:xfrm>
          <a:prstGeom prst="rect">
            <a:avLst/>
          </a:prstGeom>
        </p:spPr>
      </p:pic>
      <p:pic>
        <p:nvPicPr>
          <p:cNvPr id="5" name="Image 1" descr="/home/claude/bikewale_github/plots/02_rating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44368"/>
            <a:ext cx="8595360" cy="1645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2871216"/>
            <a:ext cx="85953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🔍  Price: Heavy right-skew; most bikes ₹60K–₹2.5L; Superbikes are extreme outliers at ₹15L+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7200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🔍  Rating: Tightly clustered 3.8–4.6; consistent satisfaction across all price segments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Univariate Analysis — Categories &amp; Brand Distribution</a:t>
            </a:r>
            <a:endParaRPr lang="en-US" sz="2000" dirty="0"/>
          </a:p>
        </p:txBody>
      </p:sp>
      <p:pic>
        <p:nvPicPr>
          <p:cNvPr id="4" name="Image 0" descr="/home/claude/bikewale_github/plots/03_categorical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2103120"/>
          </a:xfrm>
          <a:prstGeom prst="rect">
            <a:avLst/>
          </a:prstGeom>
        </p:spPr>
      </p:pic>
      <p:pic>
        <p:nvPicPr>
          <p:cNvPr id="5" name="Image 1" descr="/home/claude/bikewale_github/plots/04_brand_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017520"/>
            <a:ext cx="8595360" cy="1783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🔍  Sports Bikes dominate (~32%), followed by Scooters (~18%) and Cruiser Bikes (~16%)   |   Petrol: 80.8%  ·  Electric: 19.2%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Bivariate Analysis — Price by Brand &amp; Category</a:t>
            </a:r>
            <a:endParaRPr lang="en-US" sz="2000" dirty="0"/>
          </a:p>
        </p:txBody>
      </p:sp>
      <p:pic>
        <p:nvPicPr>
          <p:cNvPr id="4" name="Image 0" descr="/home/claude/bikewale_github/plots/06_brand_avg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389120" cy="4114800"/>
          </a:xfrm>
          <a:prstGeom prst="rect">
            <a:avLst/>
          </a:prstGeom>
        </p:spPr>
      </p:pic>
      <p:pic>
        <p:nvPicPr>
          <p:cNvPr id="5" name="Image 1" descr="/home/claude/bikewale_github/plots/07_category_price_ra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68680"/>
            <a:ext cx="4114800" cy="411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50292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✔ </a:t>
            </a:r>
            <a:r>
              <a:rPr lang="en-US" sz="900" dirty="0">
                <a:solidFill>
                  <a:srgbClr val="334155"/>
                </a:solidFill>
              </a:rPr>
              <a:t>Kawasaki, BMW, Ducati, Harley-Davidson → Luxury segment leaders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4320" y="50292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✔ </a:t>
            </a:r>
            <a:r>
              <a:rPr lang="en-US" sz="900" dirty="0">
                <a:solidFill>
                  <a:srgbClr val="334155"/>
                </a:solidFill>
              </a:rPr>
              <a:t>Hero, TVS, Bajaj → Most affordable; Budget &amp; Mid-Range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74320" y="50292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✔ </a:t>
            </a:r>
            <a:r>
              <a:rPr lang="en-US" sz="900" dirty="0">
                <a:solidFill>
                  <a:srgbClr val="334155"/>
                </a:solidFill>
              </a:rPr>
              <a:t>Superbikes cost 20–50× more than Commuter Bikes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74320" y="50292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✔ </a:t>
            </a:r>
            <a:r>
              <a:rPr lang="en-US" sz="900" dirty="0">
                <a:solidFill>
                  <a:srgbClr val="334155"/>
                </a:solidFill>
              </a:rPr>
              <a:t>Adventure Bikes rank highest in avg satisfaction (rating)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Correlation Heatmap — All Numerical Features</a:t>
            </a:r>
            <a:endParaRPr lang="en-US" sz="2000" dirty="0"/>
          </a:p>
        </p:txBody>
      </p:sp>
      <p:pic>
        <p:nvPicPr>
          <p:cNvPr id="4" name="Image 0" descr="/home/claude/bikewale_github/plots/08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960120"/>
            <a:ext cx="3108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r ≈ 0.90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97880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Engine CC &amp; Power BHP with Price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60720" y="1874520"/>
            <a:ext cx="3108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</a:rPr>
              <a:t>r ≈ -0.75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97880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Mileage inversely correlates with Price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2788920"/>
            <a:ext cx="3108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9788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r ≈ 0.15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89788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Price has weak correlation with Rating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0" y="3703320"/>
            <a:ext cx="3108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8CF8"/>
                </a:solidFill>
              </a:rPr>
              <a:t>r ≈ 0.85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897880" y="4096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Power BHP &amp; Torque NM move together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74320" y="49103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🔍  Engine CC is the single strongest predictor of price — higher displacement = exponential cost increase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Engine CC vs Price  &amp;  Power vs Price (Scatter Analysis)</a:t>
            </a:r>
            <a:endParaRPr lang="en-US" sz="2000" dirty="0"/>
          </a:p>
        </p:txBody>
      </p:sp>
      <p:pic>
        <p:nvPicPr>
          <p:cNvPr id="4" name="Image 0" descr="/home/claude/bikewale_github/plots/09_cc_power_vs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pic>
        <p:nvPicPr>
          <p:cNvPr id="5" name="Image 1" descr="/home/claude/bikewale_github/plots/10_mileage_rating_vs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14800"/>
            <a:ext cx="85953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0690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🔍  Clear positive trend: higher CC → higher price · Electric bikes (0 CC) cluster at mid-price independent of displacement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Petrol vs Electric — Market Comparison</a:t>
            </a:r>
            <a:endParaRPr lang="en-US" sz="2200" dirty="0"/>
          </a:p>
        </p:txBody>
      </p:sp>
      <p:pic>
        <p:nvPicPr>
          <p:cNvPr id="4" name="Image 0" descr="/home/claude/bikewale_github/plots/11_fuel_category_cross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2468880"/>
          </a:xfrm>
          <a:prstGeom prst="rect">
            <a:avLst/>
          </a:prstGeom>
        </p:spPr>
      </p:pic>
      <p:pic>
        <p:nvPicPr>
          <p:cNvPr id="5" name="Image 1" descr="/home/claude/bikewale_github/plots/15_electric_scoo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01568"/>
            <a:ext cx="8595360" cy="1417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8554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▸ </a:t>
            </a:r>
            <a:r>
              <a:rPr lang="en-US" sz="950" dirty="0">
                <a:solidFill>
                  <a:srgbClr val="CBD5E1"/>
                </a:solidFill>
              </a:rPr>
              <a:t>Electric scooters are price-competitive with petrol mid-range (₹80K–₹1.5L)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274320" y="48554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▸ </a:t>
            </a:r>
            <a:r>
              <a:rPr lang="en-US" sz="950" dirty="0">
                <a:solidFill>
                  <a:srgbClr val="CBD5E1"/>
                </a:solidFill>
              </a:rPr>
              <a:t>Ola Electric, Ather 450X, TVS iQube dominate the EV scooter market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274320" y="48554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▸ </a:t>
            </a:r>
            <a:r>
              <a:rPr lang="en-US" sz="950" dirty="0">
                <a:solidFill>
                  <a:srgbClr val="CBD5E1"/>
                </a:solidFill>
              </a:rPr>
              <a:t>Ultraviolette F77 shows EVs can compete in the premium sports segment too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74320" y="48554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▸ </a:t>
            </a:r>
            <a:r>
              <a:rPr lang="en-US" sz="950" dirty="0">
                <a:solidFill>
                  <a:srgbClr val="CBD5E1"/>
                </a:solidFill>
              </a:rPr>
              <a:t>FAME II subsidies are accelerating EV affordability across all states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Models  &amp;  State-wise Demand Patterns</a:t>
            </a:r>
            <a:endParaRPr lang="en-US" sz="2200" dirty="0"/>
          </a:p>
        </p:txBody>
      </p:sp>
      <p:pic>
        <p:nvPicPr>
          <p:cNvPr id="4" name="Image 0" descr="/home/claude/bikewale_github/plots/12_top_bi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2240280"/>
          </a:xfrm>
          <a:prstGeom prst="rect">
            <a:avLst/>
          </a:prstGeom>
        </p:spPr>
      </p:pic>
      <p:pic>
        <p:nvPicPr>
          <p:cNvPr id="5" name="Image 1" descr="/home/claude/bikewale_github/plots/14_state_power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54680"/>
            <a:ext cx="8595360" cy="1737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🔍  Honda Activa 6G — most reviews (mass market icon) · Karnataka &amp; Maharashtra favour premium/sports bikes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 &amp;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9144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Price Range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3533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₹35,600 (TVS XL100) → ₹38.8L (Kawasaki Ninja H2)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9144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🏍️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13248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Top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13248" y="13533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Sports Bikes (~32%) — driven by youth demand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190195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Price Predictor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3408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Engine CC &amp; Power BHP  ·  r ≈ 0.90 with Price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190195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13248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</a:rPr>
              <a:t>Rating vs Price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13248" y="23408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Weak correlation (r ≈ 0.15) — affordable ≠ unpopular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288950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" y="29809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EV Share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3284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~19.2% of listings · price-competitive with petrol mid-range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889504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288950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13248" y="29809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Best Value Brand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33284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Jawa — premium quality, mid-range price; avg rating 4.1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877056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7472" y="387705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" y="3968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Regional Pattern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" y="43159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Karnataka &amp; Maharashtra prefer premium &amp; sports bikes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77056"/>
            <a:ext cx="420624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28032" y="387705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13248" y="3968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</a:rPr>
              <a:t>Most Reviewed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43159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Honda Activa 6G — India's mass-market scooter icon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Final 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▸  </a:t>
            </a:r>
            <a:r>
              <a:rPr lang="en-US" sz="1050" dirty="0">
                <a:solidFill>
                  <a:srgbClr val="CBD5E1"/>
                </a:solidFill>
              </a:rPr>
              <a:t>The Indian two-wheeler market (2020–2024) is driven by a large affordable base — commuters &amp; scooters at ~40% — alongside a rapidly growing premium &amp; EV segment.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▸  </a:t>
            </a:r>
            <a:r>
              <a:rPr lang="en-US" sz="1050" dirty="0">
                <a:solidFill>
                  <a:srgbClr val="CBD5E1"/>
                </a:solidFill>
              </a:rPr>
              <a:t>Engine specifications (CC, BHP) are the strongest determinants of price, but brand perception and riding experience drive ratings independently.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▸  </a:t>
            </a:r>
            <a:r>
              <a:rPr lang="en-US" sz="1050" dirty="0">
                <a:solidFill>
                  <a:srgbClr val="CBD5E1"/>
                </a:solidFill>
              </a:rPr>
              <a:t>Royal Enfield, Jawa, and Vespa punch above their weight in user satisfaction — demonstrating that affordability ≠ poor experience.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▸  </a:t>
            </a:r>
            <a:r>
              <a:rPr lang="en-US" sz="1050" dirty="0">
                <a:solidFill>
                  <a:srgbClr val="CBD5E1"/>
                </a:solidFill>
              </a:rPr>
              <a:t>Electric vehicles are closing the price gap with petrol mid-range, making 2025–2026 a pivotal EV adoption milestone for India.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33832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794760"/>
            <a:ext cx="4206240" cy="502920"/>
          </a:xfrm>
          <a:prstGeom prst="rect">
            <a:avLst/>
          </a:prstGeom>
          <a:solidFill>
            <a:srgbClr val="1C2D4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Price Prediction 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 regression models (XGBoost, Random Forest) to predict Price_INR from specs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794760"/>
            <a:ext cx="4206240" cy="502920"/>
          </a:xfrm>
          <a:prstGeom prst="rect">
            <a:avLst/>
          </a:prstGeom>
          <a:solidFill>
            <a:srgbClr val="1C2D4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Rating Prediction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NLP on user reviews + feature-based model to predict user satisfaction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389120"/>
            <a:ext cx="4206240" cy="502920"/>
          </a:xfrm>
          <a:prstGeom prst="rect">
            <a:avLst/>
          </a:prstGeom>
          <a:solidFill>
            <a:srgbClr val="1C2D4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89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EV Trend Forecasting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4389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Time-series model to project EV market share growth through 2030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4389120"/>
            <a:ext cx="4206240" cy="502920"/>
          </a:xfrm>
          <a:prstGeom prst="rect">
            <a:avLst/>
          </a:prstGeom>
          <a:solidFill>
            <a:srgbClr val="1C2D4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389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Live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389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Build Streamlit / Power BI dashboard for real-time BikeWale data refresh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286000" y="2331720"/>
            <a:ext cx="457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BikeWale — Complete EDA | Indian Two-Wheeler Market 2020–2024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📁 Repo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31546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github.com/&lt;your-username&gt;/BikeWale_EDA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1546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📊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31546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bikewale_cleaned.csv  ·  1,089 rows × 26 cols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🔬 Notebook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7490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BikeWale_Complete_EDA.ipynb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7490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📈 Plots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37490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plots/  folder  ·  16 visualizations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1402</Words>
  <Application>Microsoft Office PowerPoint</Application>
  <PresentationFormat>On-screen Show (16:9)</PresentationFormat>
  <Paragraphs>282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BikeWale EDA — Indian Two-Wheeler Market Analysis</dc:title>
  <dc:subject>PptxGenJS Presentation</dc:subject>
  <dc:creator>BikeWale EDA Project</dc:creator>
  <cp:lastModifiedBy>Suman Prasad Gouda</cp:lastModifiedBy>
  <cp:revision>2</cp:revision>
  <dcterms:created xsi:type="dcterms:W3CDTF">2026-06-02T06:25:32Z</dcterms:created>
  <dcterms:modified xsi:type="dcterms:W3CDTF">2026-06-02T15:39:07Z</dcterms:modified>
</cp:coreProperties>
</file>